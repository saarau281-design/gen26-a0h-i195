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086658-2131-451D-9506-E459F29D6ADE}" v="2" dt="2026-10-09T15:49:33.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3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KSARA UDHAYAKUMAR" userId="16c45778a54aff31" providerId="LiveId" clId="{5AA6A46D-7FAC-44DB-9530-BD36BEDCF08C}"/>
    <pc:docChg chg="custSel delSld modSld modSection">
      <pc:chgData name="MADHUKSARA UDHAYAKUMAR" userId="16c45778a54aff31" providerId="LiveId" clId="{5AA6A46D-7FAC-44DB-9530-BD36BEDCF08C}" dt="2026-10-09T16:35:15.619" v="164" actId="27107"/>
      <pc:docMkLst>
        <pc:docMk/>
      </pc:docMkLst>
      <pc:sldChg chg="modSp mod">
        <pc:chgData name="MADHUKSARA UDHAYAKUMAR" userId="16c45778a54aff31" providerId="LiveId" clId="{5AA6A46D-7FAC-44DB-9530-BD36BEDCF08C}" dt="2026-10-09T15:49:12.864" v="53" actId="20577"/>
        <pc:sldMkLst>
          <pc:docMk/>
          <pc:sldMk cId="0" sldId="256"/>
        </pc:sldMkLst>
        <pc:spChg chg="mod">
          <ac:chgData name="MADHUKSARA UDHAYAKUMAR" userId="16c45778a54aff31" providerId="LiveId" clId="{5AA6A46D-7FAC-44DB-9530-BD36BEDCF08C}" dt="2026-10-09T15:49:02.558" v="50" actId="20577"/>
          <ac:spMkLst>
            <pc:docMk/>
            <pc:sldMk cId="0" sldId="256"/>
            <ac:spMk id="14" creationId="{00000000-0000-0000-0000-000000000000}"/>
          </ac:spMkLst>
        </pc:spChg>
        <pc:spChg chg="mod">
          <ac:chgData name="MADHUKSARA UDHAYAKUMAR" userId="16c45778a54aff31" providerId="LiveId" clId="{5AA6A46D-7FAC-44DB-9530-BD36BEDCF08C}" dt="2026-10-09T15:49:12.864" v="53" actId="20577"/>
          <ac:spMkLst>
            <pc:docMk/>
            <pc:sldMk cId="0" sldId="256"/>
            <ac:spMk id="15" creationId="{00000000-0000-0000-0000-000000000000}"/>
          </ac:spMkLst>
        </pc:spChg>
      </pc:sldChg>
      <pc:sldChg chg="modSp mod">
        <pc:chgData name="MADHUKSARA UDHAYAKUMAR" userId="16c45778a54aff31" providerId="LiveId" clId="{5AA6A46D-7FAC-44DB-9530-BD36BEDCF08C}" dt="2026-10-09T16:13:43.077" v="158" actId="20577"/>
        <pc:sldMkLst>
          <pc:docMk/>
          <pc:sldMk cId="0" sldId="257"/>
        </pc:sldMkLst>
        <pc:spChg chg="mod">
          <ac:chgData name="MADHUKSARA UDHAYAKUMAR" userId="16c45778a54aff31" providerId="LiveId" clId="{5AA6A46D-7FAC-44DB-9530-BD36BEDCF08C}" dt="2026-10-09T16:13:43.077" v="158" actId="20577"/>
          <ac:spMkLst>
            <pc:docMk/>
            <pc:sldMk cId="0" sldId="257"/>
            <ac:spMk id="10" creationId="{00000000-0000-0000-0000-000000000000}"/>
          </ac:spMkLst>
        </pc:spChg>
      </pc:sldChg>
      <pc:sldChg chg="modSp mod">
        <pc:chgData name="MADHUKSARA UDHAYAKUMAR" userId="16c45778a54aff31" providerId="LiveId" clId="{5AA6A46D-7FAC-44DB-9530-BD36BEDCF08C}" dt="2026-10-09T16:35:15.619" v="164" actId="27107"/>
        <pc:sldMkLst>
          <pc:docMk/>
          <pc:sldMk cId="0" sldId="258"/>
        </pc:sldMkLst>
        <pc:spChg chg="mod">
          <ac:chgData name="MADHUKSARA UDHAYAKUMAR" userId="16c45778a54aff31" providerId="LiveId" clId="{5AA6A46D-7FAC-44DB-9530-BD36BEDCF08C}" dt="2026-10-09T16:35:15.619" v="164" actId="27107"/>
          <ac:spMkLst>
            <pc:docMk/>
            <pc:sldMk cId="0" sldId="258"/>
            <ac:spMk id="10" creationId="{00000000-0000-0000-0000-000000000000}"/>
          </ac:spMkLst>
        </pc:spChg>
      </pc:sldChg>
      <pc:sldChg chg="modSp mod">
        <pc:chgData name="MADHUKSARA UDHAYAKUMAR" userId="16c45778a54aff31" providerId="LiveId" clId="{5AA6A46D-7FAC-44DB-9530-BD36BEDCF08C}" dt="2026-10-09T16:14:17.877" v="162" actId="20577"/>
        <pc:sldMkLst>
          <pc:docMk/>
          <pc:sldMk cId="0" sldId="260"/>
        </pc:sldMkLst>
        <pc:spChg chg="mod">
          <ac:chgData name="MADHUKSARA UDHAYAKUMAR" userId="16c45778a54aff31" providerId="LiveId" clId="{5AA6A46D-7FAC-44DB-9530-BD36BEDCF08C}" dt="2026-10-09T15:51:50.086" v="82" actId="20577"/>
          <ac:spMkLst>
            <pc:docMk/>
            <pc:sldMk cId="0" sldId="260"/>
            <ac:spMk id="6" creationId="{00000000-0000-0000-0000-000000000000}"/>
          </ac:spMkLst>
        </pc:spChg>
        <pc:spChg chg="mod">
          <ac:chgData name="MADHUKSARA UDHAYAKUMAR" userId="16c45778a54aff31" providerId="LiveId" clId="{5AA6A46D-7FAC-44DB-9530-BD36BEDCF08C}" dt="2026-10-09T16:14:17.877" v="162" actId="20577"/>
          <ac:spMkLst>
            <pc:docMk/>
            <pc:sldMk cId="0" sldId="260"/>
            <ac:spMk id="10" creationId="{00000000-0000-0000-0000-000000000000}"/>
          </ac:spMkLst>
        </pc:spChg>
      </pc:sldChg>
      <pc:sldChg chg="modSp mod">
        <pc:chgData name="MADHUKSARA UDHAYAKUMAR" userId="16c45778a54aff31" providerId="LiveId" clId="{5AA6A46D-7FAC-44DB-9530-BD36BEDCF08C}" dt="2026-10-09T16:14:35.523" v="163" actId="20577"/>
        <pc:sldMkLst>
          <pc:docMk/>
          <pc:sldMk cId="0" sldId="261"/>
        </pc:sldMkLst>
        <pc:spChg chg="mod">
          <ac:chgData name="MADHUKSARA UDHAYAKUMAR" userId="16c45778a54aff31" providerId="LiveId" clId="{5AA6A46D-7FAC-44DB-9530-BD36BEDCF08C}" dt="2026-10-09T15:52:20.285" v="106" actId="20577"/>
          <ac:spMkLst>
            <pc:docMk/>
            <pc:sldMk cId="0" sldId="261"/>
            <ac:spMk id="6" creationId="{00000000-0000-0000-0000-000000000000}"/>
          </ac:spMkLst>
        </pc:spChg>
        <pc:spChg chg="mod">
          <ac:chgData name="MADHUKSARA UDHAYAKUMAR" userId="16c45778a54aff31" providerId="LiveId" clId="{5AA6A46D-7FAC-44DB-9530-BD36BEDCF08C}" dt="2026-10-09T16:14:35.523" v="163" actId="20577"/>
          <ac:spMkLst>
            <pc:docMk/>
            <pc:sldMk cId="0" sldId="261"/>
            <ac:spMk id="10" creationId="{00000000-0000-0000-0000-000000000000}"/>
          </ac:spMkLst>
        </pc:spChg>
      </pc:sldChg>
      <pc:sldChg chg="modSp mod">
        <pc:chgData name="MADHUKSARA UDHAYAKUMAR" userId="16c45778a54aff31" providerId="LiveId" clId="{5AA6A46D-7FAC-44DB-9530-BD36BEDCF08C}" dt="2026-10-09T15:53:54.916" v="130" actId="20577"/>
        <pc:sldMkLst>
          <pc:docMk/>
          <pc:sldMk cId="0" sldId="262"/>
        </pc:sldMkLst>
        <pc:spChg chg="mod">
          <ac:chgData name="MADHUKSARA UDHAYAKUMAR" userId="16c45778a54aff31" providerId="LiveId" clId="{5AA6A46D-7FAC-44DB-9530-BD36BEDCF08C}" dt="2026-10-09T15:53:54.916" v="130" actId="20577"/>
          <ac:spMkLst>
            <pc:docMk/>
            <pc:sldMk cId="0" sldId="262"/>
            <ac:spMk id="6" creationId="{00000000-0000-0000-0000-000000000000}"/>
          </ac:spMkLst>
        </pc:spChg>
      </pc:sldChg>
      <pc:sldChg chg="modSp mod">
        <pc:chgData name="MADHUKSARA UDHAYAKUMAR" userId="16c45778a54aff31" providerId="LiveId" clId="{5AA6A46D-7FAC-44DB-9530-BD36BEDCF08C}" dt="2026-10-09T15:54:31.613" v="156" actId="20577"/>
        <pc:sldMkLst>
          <pc:docMk/>
          <pc:sldMk cId="0" sldId="263"/>
        </pc:sldMkLst>
        <pc:spChg chg="mod">
          <ac:chgData name="MADHUKSARA UDHAYAKUMAR" userId="16c45778a54aff31" providerId="LiveId" clId="{5AA6A46D-7FAC-44DB-9530-BD36BEDCF08C}" dt="2026-10-09T15:54:31.613" v="156" actId="20577"/>
          <ac:spMkLst>
            <pc:docMk/>
            <pc:sldMk cId="0" sldId="263"/>
            <ac:spMk id="6" creationId="{00000000-0000-0000-0000-000000000000}"/>
          </ac:spMkLst>
        </pc:spChg>
      </pc:sldChg>
      <pc:sldChg chg="del">
        <pc:chgData name="MADHUKSARA UDHAYAKUMAR" userId="16c45778a54aff31" providerId="LiveId" clId="{5AA6A46D-7FAC-44DB-9530-BD36BEDCF08C}" dt="2026-10-09T16:13:09.697" v="157" actId="2696"/>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910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IN"/>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lang="en-IN"/>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lang="en-IN"/>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lang="en-IN"/>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lang="en-IN"/>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lang="en-IN"/>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lang="en-IN"/>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lang="en-IN"/>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lang="en-IN"/>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426720" y="3108960"/>
            <a:ext cx="5669280" cy="365760"/>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548640" y="370332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Team Inevitable </a:t>
            </a:r>
            <a:endParaRPr lang="en-US" sz="1800" dirty="0"/>
          </a:p>
          <a:p>
            <a:pPr marL="279400" indent="-279400">
              <a:spcAft>
                <a:spcPts val="1400"/>
              </a:spcAft>
              <a:buClr>
                <a:schemeClr val="accent3"/>
              </a:buClr>
              <a:buSzPct val="100000"/>
              <a:buFontTx/>
              <a:buChar char="•"/>
            </a:pPr>
            <a:r>
              <a:rPr lang="en-US" sz="1800" dirty="0">
                <a:solidFill>
                  <a:schemeClr val="bg1"/>
                </a:solidFill>
              </a:rPr>
              <a:t>Team Members - </a:t>
            </a:r>
            <a:r>
              <a:rPr lang="en-US" dirty="0">
                <a:solidFill>
                  <a:schemeClr val="bg1"/>
                </a:solidFill>
              </a:rPr>
              <a:t>Madhuksara.U(CB.SC.U4CSE26527),Pranika.S(CB.SC.U4CSE26647),Navaneetha.M(CB.SC.U4CSE26427),Jack Kinsey.B(CB.SC.U4QTS26060)</a:t>
            </a:r>
            <a:endParaRPr lang="en-US" sz="1800" dirty="0"/>
          </a:p>
          <a:p>
            <a:pPr marL="279400" indent="-279400">
              <a:spcAft>
                <a:spcPts val="1400"/>
              </a:spcAft>
              <a:buClr>
                <a:schemeClr val="accent3"/>
              </a:buClr>
              <a:buSzPct val="100000"/>
              <a:buChar char="•"/>
            </a:pPr>
            <a:r>
              <a:rPr lang="en-US" sz="1800" dirty="0">
                <a:solidFill>
                  <a:schemeClr val="bg1"/>
                </a:solidFill>
              </a:rPr>
              <a:t>Selected Domain – Domain 7</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dirty="0">
                <a:solidFill>
                  <a:schemeClr val="bg1"/>
                </a:solidFill>
              </a:rPr>
              <a:t>SafeHire AI – AI powered fake job &amp;Internship detection Platform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marL="742950" lvl="1" indent="-285750">
              <a:spcAft>
                <a:spcPts val="1000"/>
              </a:spcAft>
              <a:buClr>
                <a:schemeClr val="accent1"/>
              </a:buClr>
              <a:buSzPct val="100000"/>
              <a:buFont typeface="Wingdings" panose="05000000000000000000" pitchFamily="2" charset="2"/>
              <a:buChar char="Ø"/>
            </a:pPr>
            <a:r>
              <a:rPr lang="en-US" dirty="0"/>
              <a:t>Students find it hard to differentiate between genuine job and internship opportunities and fraudulent ones. Existing verification methods require students to manually verify many things, like recruiters, payment requests, and companies. </a:t>
            </a:r>
          </a:p>
          <a:p>
            <a:pPr marL="742950" lvl="1" indent="-285750">
              <a:spcAft>
                <a:spcPts val="1000"/>
              </a:spcAft>
              <a:buClr>
                <a:schemeClr val="accent1"/>
              </a:buClr>
              <a:buSzPct val="100000"/>
              <a:buFont typeface="Wingdings" panose="05000000000000000000" pitchFamily="2" charset="2"/>
              <a:buChar char="Ø"/>
            </a:pPr>
            <a:r>
              <a:rPr lang="en-US" dirty="0"/>
              <a:t>Therefore, students need a simple system that can identify suspicious emails and communicate the risks before they apply for a certain internship or job.</a:t>
            </a:r>
          </a:p>
          <a:p>
            <a:pPr marL="279400" indent="-279400">
              <a:spcAft>
                <a:spcPts val="1000"/>
              </a:spcAft>
              <a:buClr>
                <a:schemeClr val="accent1"/>
              </a:buClr>
              <a:buSzPct val="100000"/>
              <a:buChar char="•"/>
            </a:pPr>
            <a:r>
              <a:rPr lang="en-US" sz="1800" dirty="0">
                <a:solidFill>
                  <a:schemeClr val="tx1"/>
                </a:solidFill>
              </a:rPr>
              <a:t>Why is it important right now?</a:t>
            </a:r>
          </a:p>
          <a:p>
            <a:pPr marL="742950" lvl="1" indent="-285750">
              <a:spcAft>
                <a:spcPts val="1000"/>
              </a:spcAft>
              <a:buClr>
                <a:schemeClr val="accent1"/>
              </a:buClr>
              <a:buSzPct val="100000"/>
              <a:buFont typeface="Wingdings" panose="05000000000000000000" pitchFamily="2" charset="2"/>
              <a:buChar char="Ø"/>
            </a:pPr>
            <a:r>
              <a:rPr lang="en-IN" dirty="0"/>
              <a:t>Students are looking for internships and jobs online more and more, and the internet makes it easier to come across fake internships and jobs and makes it harder to tell them apart from the real thing. </a:t>
            </a:r>
          </a:p>
          <a:p>
            <a:pPr marL="742950" lvl="1" indent="-285750">
              <a:spcAft>
                <a:spcPts val="1000"/>
              </a:spcAft>
              <a:buClr>
                <a:schemeClr val="accent1"/>
              </a:buClr>
              <a:buSzPct val="100000"/>
              <a:buFont typeface="Wingdings" panose="05000000000000000000" pitchFamily="2" charset="2"/>
              <a:buChar char="Ø"/>
            </a:pPr>
            <a:r>
              <a:rPr lang="en-IN" dirty="0"/>
              <a:t>There is an urgent need for a simple explainable system to help students evaluate these opportunities before they give their money or personal information. </a:t>
            </a:r>
            <a:endParaRPr lang="en-US" dirty="0"/>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endParaRPr lang="en-US" dirty="0"/>
          </a:p>
          <a:p>
            <a:pPr marL="742950" lvl="1" indent="-285750">
              <a:spcAft>
                <a:spcPts val="1000"/>
              </a:spcAft>
              <a:buClr>
                <a:schemeClr val="accent1"/>
              </a:buClr>
              <a:buSzPct val="100000"/>
              <a:buFont typeface="Wingdings" panose="05000000000000000000" pitchFamily="2" charset="2"/>
              <a:buChar char="Ø"/>
            </a:pPr>
            <a:r>
              <a:rPr lang="en-IN" dirty="0"/>
              <a:t>College students and recent graduates looking for jobs or internships may be inexperienced in recognizing scams. First-time job seekers often have limited experience in this area. </a:t>
            </a:r>
            <a:endParaRPr lang="en-US" dirty="0"/>
          </a:p>
          <a:p>
            <a:pPr marL="279400" indent="-279400">
              <a:spcAft>
                <a:spcPts val="1000"/>
              </a:spcAft>
              <a:buClr>
                <a:schemeClr val="accent1"/>
              </a:buClr>
              <a:buSzPct val="100000"/>
              <a:buChar char="•"/>
            </a:pPr>
            <a:r>
              <a:rPr lang="en-US" sz="1800" dirty="0">
                <a:solidFill>
                  <a:schemeClr val="tx1"/>
                </a:solidFill>
              </a:rPr>
              <a:t>Secondary stakeholders</a:t>
            </a:r>
          </a:p>
          <a:p>
            <a:pPr marL="742950" lvl="1" indent="-285750">
              <a:spcAft>
                <a:spcPts val="1000"/>
              </a:spcAft>
              <a:buClr>
                <a:schemeClr val="accent1"/>
              </a:buClr>
              <a:buSzPct val="100000"/>
              <a:buFont typeface="Wingdings" panose="05000000000000000000" pitchFamily="2" charset="2"/>
              <a:buChar char="Ø"/>
            </a:pPr>
            <a:r>
              <a:rPr lang="en-IN" dirty="0"/>
              <a:t>Colleges, placement cells, career centres, parents and guardians, and reputable companies and recruiters.</a:t>
            </a:r>
            <a:endParaRPr lang="en-US" dirty="0"/>
          </a:p>
          <a:p>
            <a:pPr marL="279400" indent="-279400">
              <a:spcAft>
                <a:spcPts val="1000"/>
              </a:spcAft>
              <a:buClr>
                <a:schemeClr val="accent1"/>
              </a:buClr>
              <a:buSzPct val="100000"/>
              <a:buChar char="•"/>
            </a:pPr>
            <a:r>
              <a:rPr lang="en-US" sz="1800" dirty="0">
                <a:solidFill>
                  <a:schemeClr val="tx1"/>
                </a:solidFill>
              </a:rPr>
              <a:t>Who benefits if the problem is solved?</a:t>
            </a:r>
          </a:p>
          <a:p>
            <a:pPr marL="742950" lvl="1" indent="-285750">
              <a:spcAft>
                <a:spcPts val="1000"/>
              </a:spcAft>
              <a:buClr>
                <a:schemeClr val="accent1"/>
              </a:buClr>
              <a:buSzPct val="100000"/>
              <a:buFont typeface="Wingdings" panose="05000000000000000000" pitchFamily="2" charset="2"/>
              <a:buChar char="Ø"/>
            </a:pPr>
            <a:r>
              <a:rPr lang="en-US" dirty="0"/>
              <a:t>Students – They can avoid financial loss, personal information theft</a:t>
            </a:r>
          </a:p>
          <a:p>
            <a:pPr marL="742950" lvl="1" indent="-285750">
              <a:spcAft>
                <a:spcPts val="1000"/>
              </a:spcAft>
              <a:buClr>
                <a:schemeClr val="accent1"/>
              </a:buClr>
              <a:buSzPct val="100000"/>
              <a:buFont typeface="Wingdings" panose="05000000000000000000" pitchFamily="2" charset="2"/>
              <a:buChar char="Ø"/>
            </a:pPr>
            <a:r>
              <a:rPr lang="en-US" dirty="0"/>
              <a:t>C</a:t>
            </a:r>
            <a:r>
              <a:rPr lang="en-US" sz="1800" dirty="0"/>
              <a:t>olleges </a:t>
            </a:r>
            <a:r>
              <a:rPr lang="en-US" dirty="0"/>
              <a:t>/ Universities – Safer placement and internship ecosystem</a:t>
            </a:r>
          </a:p>
          <a:p>
            <a:pPr marL="742950" lvl="1" indent="-285750">
              <a:spcAft>
                <a:spcPts val="1000"/>
              </a:spcAft>
              <a:buClr>
                <a:schemeClr val="accent1"/>
              </a:buClr>
              <a:buSzPct val="100000"/>
              <a:buFont typeface="Wingdings" panose="05000000000000000000" pitchFamily="2" charset="2"/>
              <a:buChar char="Ø"/>
            </a:pPr>
            <a:r>
              <a:rPr lang="en-US" dirty="0"/>
              <a:t>Families – greater financial and personal data security</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a:t>
            </a:r>
          </a:p>
          <a:p>
            <a:pPr marL="742950" lvl="1" indent="-285750">
              <a:spcAft>
                <a:spcPts val="1000"/>
              </a:spcAft>
              <a:buClr>
                <a:schemeClr val="accent1"/>
              </a:buClr>
              <a:buSzPct val="100000"/>
              <a:buFont typeface="Wingdings" panose="05000000000000000000" pitchFamily="2" charset="2"/>
              <a:buChar char="Ø"/>
            </a:pPr>
            <a:r>
              <a:rPr lang="en-US" dirty="0"/>
              <a:t> Hiring is now done online (job portals, LinkedIn, WhatsApp/Telegram). Fake job listings and fake recruiters are on the rise with freshers as the primary target group. Companies also fall prey to fake resumes and fake certificates.</a:t>
            </a:r>
          </a:p>
          <a:p>
            <a:pPr marL="279400" indent="-279400">
              <a:spcAft>
                <a:spcPts val="1000"/>
              </a:spcAft>
              <a:buClr>
                <a:schemeClr val="accent1"/>
              </a:buClr>
              <a:buSzPct val="100000"/>
              <a:buChar char="•"/>
            </a:pPr>
            <a:r>
              <a:rPr lang="en-US" sz="1800" dirty="0">
                <a:solidFill>
                  <a:schemeClr val="tx1"/>
                </a:solidFill>
              </a:rPr>
              <a:t>Relevant data or facts (if available)</a:t>
            </a:r>
          </a:p>
          <a:p>
            <a:pPr marL="742950" lvl="1" indent="-285750">
              <a:spcAft>
                <a:spcPts val="1000"/>
              </a:spcAft>
              <a:buClr>
                <a:schemeClr val="accent1"/>
              </a:buClr>
              <a:buSzPct val="100000"/>
              <a:buFont typeface="Wingdings" panose="05000000000000000000" pitchFamily="2" charset="2"/>
              <a:buChar char="Ø"/>
            </a:pPr>
            <a:r>
              <a:rPr lang="en-US" dirty="0"/>
              <a:t>The number of job scam complaints and losses is increasing every year (cite FTC / cybercrime.gov.in).. A significant number of resumes have false/exaggerated claims (cite a recent survey). Manual verification takes days to weeks.</a:t>
            </a:r>
          </a:p>
          <a:p>
            <a:pPr marL="279400" indent="-279400">
              <a:spcAft>
                <a:spcPts val="1000"/>
              </a:spcAft>
              <a:buClr>
                <a:schemeClr val="accent1"/>
              </a:buClr>
              <a:buSzPct val="100000"/>
              <a:buChar char="•"/>
            </a:pPr>
            <a:r>
              <a:rPr lang="en-US" sz="1800" dirty="0">
                <a:solidFill>
                  <a:schemeClr val="tx1"/>
                </a:solidFill>
              </a:rPr>
              <a:t>Current workflow, step by step</a:t>
            </a:r>
          </a:p>
          <a:p>
            <a:pPr marL="742950" lvl="1" indent="-285750">
              <a:spcAft>
                <a:spcPts val="1000"/>
              </a:spcAft>
              <a:buClr>
                <a:schemeClr val="accent1"/>
              </a:buClr>
              <a:buSzPct val="100000"/>
              <a:buFont typeface="Wingdings" panose="05000000000000000000" pitchFamily="2" charset="2"/>
              <a:buChar char="Ø"/>
            </a:pPr>
            <a:r>
              <a:rPr lang="en-US" dirty="0"/>
              <a:t> Job/internship offers are posted online, but recruiters often go unverified and interviews/documents are checked manually. Fraudulent offers may demand payments or personal information, with scams often discovered only after the damage is done.</a:t>
            </a:r>
            <a:endParaRPr lang="en-US"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a:t>
            </a:r>
            <a:endParaRPr lang="en-US" dirty="0"/>
          </a:p>
          <a:p>
            <a:pPr marL="742950" lvl="1" indent="-285750">
              <a:spcAft>
                <a:spcPts val="1000"/>
              </a:spcAft>
              <a:buClr>
                <a:schemeClr val="accent1"/>
              </a:buClr>
              <a:buSzPct val="100000"/>
              <a:buFont typeface="Wingdings" panose="05000000000000000000" pitchFamily="2" charset="2"/>
              <a:buChar char="Ø"/>
            </a:pPr>
            <a:r>
              <a:rPr lang="en-US" dirty="0"/>
              <a:t>Distinguishing between real and fraudulent job/internship offers.</a:t>
            </a:r>
          </a:p>
          <a:p>
            <a:pPr marL="742950" lvl="1" indent="-285750">
              <a:spcAft>
                <a:spcPts val="1000"/>
              </a:spcAft>
              <a:buClr>
                <a:schemeClr val="accent1"/>
              </a:buClr>
              <a:buSzPct val="100000"/>
              <a:buFont typeface="Wingdings" panose="05000000000000000000" pitchFamily="2" charset="2"/>
              <a:buChar char="Ø"/>
            </a:pPr>
            <a:r>
              <a:rPr lang="en-US" dirty="0"/>
              <a:t> Getting reliable and original information about the company and the recruiters.</a:t>
            </a:r>
          </a:p>
          <a:p>
            <a:pPr marL="285750" indent="-285750">
              <a:spcAft>
                <a:spcPts val="1000"/>
              </a:spcAft>
              <a:buClr>
                <a:schemeClr val="accent1"/>
              </a:buClr>
              <a:buSzPct val="100000"/>
              <a:buFont typeface="Arial" panose="020B0604020202020204" pitchFamily="34" charset="0"/>
              <a:buChar char="•"/>
            </a:pPr>
            <a:r>
              <a:rPr lang="en-US" sz="1800" dirty="0">
                <a:solidFill>
                  <a:schemeClr val="tx1"/>
                </a:solidFill>
              </a:rPr>
              <a:t>Root causes behind them</a:t>
            </a:r>
          </a:p>
          <a:p>
            <a:pPr marL="742950" lvl="1" indent="-285750">
              <a:spcAft>
                <a:spcPts val="1000"/>
              </a:spcAft>
              <a:buClr>
                <a:schemeClr val="accent1"/>
              </a:buClr>
              <a:buSzPct val="100000"/>
              <a:buFont typeface="Wingdings" panose="05000000000000000000" pitchFamily="2" charset="2"/>
              <a:buChar char="Ø"/>
            </a:pPr>
            <a:r>
              <a:rPr lang="en-IN" dirty="0"/>
              <a:t>Students often lack experience to recognize scam mail, while scammers make fake offers that look similar to original ones.</a:t>
            </a:r>
          </a:p>
          <a:p>
            <a:pPr marL="800100" lvl="1" indent="-342900">
              <a:spcAft>
                <a:spcPts val="1000"/>
              </a:spcAft>
              <a:buClr>
                <a:schemeClr val="accent1"/>
              </a:buClr>
              <a:buSzPct val="100000"/>
              <a:buFont typeface="Wingdings" panose="05000000000000000000" pitchFamily="2" charset="2"/>
              <a:buChar char="Ø"/>
            </a:pPr>
            <a:r>
              <a:rPr lang="en-US" dirty="0"/>
              <a:t>information about companies, recruiters and job postings are mostly scattered over different platforms making verification difficult.</a:t>
            </a:r>
          </a:p>
          <a:p>
            <a:pPr marL="279400" indent="-279400">
              <a:spcAft>
                <a:spcPts val="1000"/>
              </a:spcAft>
              <a:buClr>
                <a:schemeClr val="accent1"/>
              </a:buClr>
              <a:buSzPct val="100000"/>
              <a:buChar char="•"/>
            </a:pPr>
            <a:r>
              <a:rPr lang="en-US" sz="1800" dirty="0">
                <a:solidFill>
                  <a:schemeClr val="tx1"/>
                </a:solidFill>
              </a:rPr>
              <a:t>Consequences of leaving them unsolved</a:t>
            </a:r>
            <a:endParaRPr lang="en-US" dirty="0"/>
          </a:p>
          <a:p>
            <a:pPr marL="742950" lvl="1" indent="-285750">
              <a:spcAft>
                <a:spcPts val="1000"/>
              </a:spcAft>
              <a:buClr>
                <a:schemeClr val="accent1"/>
              </a:buClr>
              <a:buSzPct val="100000"/>
              <a:buFont typeface="Wingdings" panose="05000000000000000000" pitchFamily="2" charset="2"/>
              <a:buChar char="Ø"/>
            </a:pPr>
            <a:r>
              <a:rPr lang="en-US" dirty="0"/>
              <a:t>Financial losses , loss of personal information , increased exposure to repeated scam. </a:t>
            </a:r>
          </a:p>
          <a:p>
            <a:pPr marL="342900" indent="-342900">
              <a:spcAft>
                <a:spcPts val="1000"/>
              </a:spcAft>
              <a:buClr>
                <a:schemeClr val="accent1"/>
              </a:buClr>
              <a:buSzPct val="100000"/>
              <a:buAutoNum type="arabicPeriod"/>
            </a:pPr>
            <a:endParaRPr lang="en-US" sz="1800" dirty="0">
              <a:solidFill>
                <a:schemeClr val="tx1"/>
              </a:solidFill>
            </a:endParaRP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p>
          <a:p>
            <a:pPr marL="742950" lvl="1" indent="-285750">
              <a:spcAft>
                <a:spcPts val="1000"/>
              </a:spcAft>
              <a:buClr>
                <a:schemeClr val="accent1"/>
              </a:buClr>
              <a:buSzPct val="100000"/>
              <a:buFont typeface="Wingdings" panose="05000000000000000000" pitchFamily="2" charset="2"/>
              <a:buChar char="Ø"/>
            </a:pPr>
            <a:r>
              <a:rPr lang="en-US" dirty="0"/>
              <a:t> Manual checks: Students Google the company, check LinkedIn, or ask seniors and friends. Job portals (LinkedIn, Naukri, Interns Hala): Basic employer verification and a "Report job" option. </a:t>
            </a:r>
          </a:p>
          <a:p>
            <a:pPr marL="742950" lvl="1" indent="-285750">
              <a:spcAft>
                <a:spcPts val="1000"/>
              </a:spcAft>
              <a:buClr>
                <a:schemeClr val="accent1"/>
              </a:buClr>
              <a:buSzPct val="100000"/>
              <a:buFont typeface="Wingdings" panose="05000000000000000000" pitchFamily="2" charset="2"/>
              <a:buChar char="Ø"/>
            </a:pPr>
            <a:r>
              <a:rPr lang="en-US" dirty="0"/>
              <a:t>Cyber-crime portals: Students can report scams to cybercrime.gov.in after </a:t>
            </a:r>
            <a:r>
              <a:rPr lang="en-US"/>
              <a:t>being cheated.</a:t>
            </a:r>
            <a:endParaRPr lang="en-US" dirty="0"/>
          </a:p>
          <a:p>
            <a:pPr marL="279400" indent="-279400">
              <a:spcAft>
                <a:spcPts val="1000"/>
              </a:spcAft>
              <a:buClr>
                <a:schemeClr val="accent1"/>
              </a:buClr>
              <a:buSzPct val="100000"/>
              <a:buChar char="•"/>
            </a:pPr>
            <a:r>
              <a:rPr lang="en-US" sz="1800" dirty="0">
                <a:solidFill>
                  <a:schemeClr val="tx1"/>
                </a:solidFill>
              </a:rPr>
              <a:t>Limitations of each</a:t>
            </a:r>
          </a:p>
          <a:p>
            <a:pPr marL="742950" lvl="1" indent="-285750">
              <a:spcAft>
                <a:spcPts val="1000"/>
              </a:spcAft>
              <a:buClr>
                <a:schemeClr val="accent1"/>
              </a:buClr>
              <a:buSzPct val="100000"/>
              <a:buFont typeface="Wingdings" panose="05000000000000000000" pitchFamily="2" charset="2"/>
              <a:buChar char="Ø"/>
            </a:pPr>
            <a:r>
              <a:rPr lang="en-US" dirty="0"/>
              <a:t> Job portals: Fake listings still slip through, and action comes only after complaints.</a:t>
            </a:r>
          </a:p>
          <a:p>
            <a:pPr marL="742950" lvl="1" indent="-285750">
              <a:spcAft>
                <a:spcPts val="1000"/>
              </a:spcAft>
              <a:buClr>
                <a:schemeClr val="accent1"/>
              </a:buClr>
              <a:buSzPct val="100000"/>
              <a:buFont typeface="Wingdings" panose="05000000000000000000" pitchFamily="2" charset="2"/>
              <a:buChar char="Ø"/>
            </a:pPr>
            <a:r>
              <a:rPr lang="en-US" dirty="0"/>
              <a:t>Cyber-crime portals: Reactive: they work only after the money is already lost.</a:t>
            </a:r>
          </a:p>
          <a:p>
            <a:pPr marL="279400" indent="-279400">
              <a:spcAft>
                <a:spcPts val="1000"/>
              </a:spcAft>
              <a:buClr>
                <a:schemeClr val="accent1"/>
              </a:buClr>
              <a:buSzPct val="100000"/>
              <a:buChar char="•"/>
            </a:pPr>
            <a:r>
              <a:rPr lang="en-US" sz="1800" dirty="0">
                <a:solidFill>
                  <a:schemeClr val="tx1"/>
                </a:solidFill>
              </a:rPr>
              <a:t>The gap they leave open (Key Challenges)</a:t>
            </a:r>
          </a:p>
          <a:p>
            <a:pPr marL="742950" lvl="1" indent="-285750">
              <a:spcAft>
                <a:spcPts val="1000"/>
              </a:spcAft>
              <a:buClr>
                <a:schemeClr val="accent1"/>
              </a:buClr>
              <a:buSzPct val="100000"/>
              <a:buFont typeface="Wingdings" panose="05000000000000000000" pitchFamily="2" charset="2"/>
              <a:buChar char="Ø"/>
            </a:pPr>
            <a:r>
              <a:rPr lang="en-US" dirty="0"/>
              <a:t> No single tool checks the full offer (text, link, recruiter, company) before the student applies.</a:t>
            </a:r>
          </a:p>
          <a:p>
            <a:pPr marL="742950" lvl="1" indent="-285750">
              <a:spcAft>
                <a:spcPts val="1000"/>
              </a:spcAft>
              <a:buClr>
                <a:schemeClr val="accent1"/>
              </a:buClr>
              <a:buSzPct val="100000"/>
              <a:buFont typeface="Wingdings" panose="05000000000000000000" pitchFamily="2" charset="2"/>
              <a:buChar char="Ø"/>
            </a:pPr>
            <a:r>
              <a:rPr lang="en-US" dirty="0"/>
              <a:t> Scam reports are scattered and don't help the next student.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a:t>
            </a:r>
          </a:p>
          <a:p>
            <a:pPr marL="742950" lvl="1" indent="-285750">
              <a:spcAft>
                <a:spcPts val="1000"/>
              </a:spcAft>
              <a:buClr>
                <a:schemeClr val="accent1"/>
              </a:buClr>
              <a:buSzPct val="100000"/>
              <a:buFont typeface="Wingdings" panose="05000000000000000000" pitchFamily="2" charset="2"/>
              <a:buChar char="Ø"/>
            </a:pPr>
            <a:r>
              <a:rPr lang="en-US" dirty="0"/>
              <a:t> A basic laptop or computer for development and testing, along with smartphones for testing how students would upload job offers, screenshots, messages, and links.</a:t>
            </a:r>
          </a:p>
          <a:p>
            <a:pPr marL="279400" indent="-279400">
              <a:spcAft>
                <a:spcPts val="1000"/>
              </a:spcAft>
              <a:buClr>
                <a:schemeClr val="accent1"/>
              </a:buClr>
              <a:buSzPct val="100000"/>
              <a:buChar char="•"/>
            </a:pPr>
            <a:r>
              <a:rPr lang="en-US" sz="1800" dirty="0">
                <a:solidFill>
                  <a:schemeClr val="tx1"/>
                </a:solidFill>
              </a:rPr>
              <a:t>Software Requirements</a:t>
            </a:r>
          </a:p>
          <a:p>
            <a:pPr marL="742950" lvl="1" indent="-285750">
              <a:spcAft>
                <a:spcPts val="1000"/>
              </a:spcAft>
              <a:buClr>
                <a:schemeClr val="accent1"/>
              </a:buClr>
              <a:buSzPct val="100000"/>
              <a:buFont typeface="Wingdings" panose="05000000000000000000" pitchFamily="2" charset="2"/>
              <a:buChar char="Ø"/>
            </a:pPr>
            <a:r>
              <a:rPr lang="en-US" dirty="0"/>
              <a:t> A web or mobile development environment, AI/ML models for scam detection, a database for storing reports and scam patterns, and APIs for checking companies, URLs, and other relevant information.</a:t>
            </a:r>
          </a:p>
          <a:p>
            <a:pPr marL="279400" indent="-279400">
              <a:spcAft>
                <a:spcPts val="1000"/>
              </a:spcAft>
              <a:buClr>
                <a:schemeClr val="accent1"/>
              </a:buClr>
              <a:buSzPct val="100000"/>
              <a:buChar char="•"/>
            </a:pPr>
            <a:r>
              <a:rPr lang="en-US" sz="1800" dirty="0">
                <a:solidFill>
                  <a:schemeClr val="tx1"/>
                </a:solidFill>
              </a:rPr>
              <a:t>Other resources (Including Human Resources)</a:t>
            </a:r>
          </a:p>
          <a:p>
            <a:pPr marL="742950" lvl="1" indent="-285750">
              <a:spcAft>
                <a:spcPts val="1000"/>
              </a:spcAft>
              <a:buClr>
                <a:schemeClr val="accent1"/>
              </a:buClr>
              <a:buSzPct val="100000"/>
              <a:buFont typeface="Wingdings" panose="05000000000000000000" pitchFamily="2" charset="2"/>
              <a:buChar char="Ø"/>
            </a:pPr>
            <a:r>
              <a:rPr lang="en-US" dirty="0"/>
              <a:t> A small team of developers, AI/ML specialists, UI/UX designers, and cybersecurity researchers, along with access to sample job scams, legitimate job postings, and reliable online data sources for testing and training the system.</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Inevitable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a:t>
            </a:r>
          </a:p>
          <a:p>
            <a:pPr marL="742950" lvl="1" indent="-285750">
              <a:spcAft>
                <a:spcPts val="1000"/>
              </a:spcAft>
              <a:buClr>
                <a:schemeClr val="accent1"/>
              </a:buClr>
              <a:buSzPct val="100000"/>
              <a:buFont typeface="Wingdings" panose="05000000000000000000" pitchFamily="2" charset="2"/>
              <a:buChar char="Ø"/>
            </a:pPr>
            <a:r>
              <a:rPr lang="en-US" dirty="0"/>
              <a:t> Design an AI-based platform that would be able to analyze job and internship offers to detect potential scam opportunities.</a:t>
            </a:r>
          </a:p>
          <a:p>
            <a:pPr marL="279400" indent="-279400">
              <a:spcAft>
                <a:spcPts val="1000"/>
              </a:spcAft>
              <a:buClr>
                <a:schemeClr val="accent1"/>
              </a:buClr>
              <a:buSzPct val="100000"/>
              <a:buChar char="•"/>
            </a:pPr>
            <a:r>
              <a:rPr lang="en-US" sz="1800" dirty="0">
                <a:solidFill>
                  <a:schemeClr val="tx1"/>
                </a:solidFill>
              </a:rPr>
              <a:t>What you want to improve</a:t>
            </a:r>
          </a:p>
          <a:p>
            <a:pPr marL="742950" lvl="1" indent="-285750">
              <a:spcAft>
                <a:spcPts val="1000"/>
              </a:spcAft>
              <a:buClr>
                <a:schemeClr val="accent1"/>
              </a:buClr>
              <a:buSzPct val="100000"/>
              <a:buFont typeface="Wingdings" panose="05000000000000000000" pitchFamily="2" charset="2"/>
              <a:buChar char="Ø"/>
            </a:pPr>
            <a:r>
              <a:rPr lang="en-US" dirty="0"/>
              <a:t> we wanted improvise by offering a risk score and red flags for every opportunity, along with a list of warnings and recommendations.</a:t>
            </a:r>
          </a:p>
          <a:p>
            <a:pPr marL="742950" lvl="1" indent="-285750">
              <a:spcAft>
                <a:spcPts val="1000"/>
              </a:spcAft>
              <a:buClr>
                <a:schemeClr val="accent1"/>
              </a:buClr>
              <a:buSzPct val="100000"/>
              <a:buFont typeface="Wingdings" panose="05000000000000000000" pitchFamily="2" charset="2"/>
              <a:buChar char="Ø"/>
            </a:pPr>
            <a:r>
              <a:rPr lang="en-US" dirty="0"/>
              <a:t>We want to build a student-reported database of scammers and job/internship offers to increase safety and prevent losses of personal information and money.</a:t>
            </a:r>
          </a:p>
          <a:p>
            <a:pPr marL="279400" indent="-279400">
              <a:spcAft>
                <a:spcPts val="1000"/>
              </a:spcAft>
              <a:buClr>
                <a:schemeClr val="accent1"/>
              </a:buClr>
              <a:buSzPct val="100000"/>
              <a:buChar char="•"/>
            </a:pPr>
            <a:r>
              <a:rPr lang="en-US" sz="1800" dirty="0">
                <a:solidFill>
                  <a:schemeClr val="tx1"/>
                </a:solidFill>
              </a:rPr>
              <a:t>What successful improvement should you achieve</a:t>
            </a:r>
          </a:p>
          <a:p>
            <a:pPr marL="742950" lvl="1" indent="-285750">
              <a:spcAft>
                <a:spcPts val="1000"/>
              </a:spcAft>
              <a:buClr>
                <a:schemeClr val="accent1"/>
              </a:buClr>
              <a:buSzPct val="100000"/>
              <a:buFont typeface="Wingdings" panose="05000000000000000000" pitchFamily="2" charset="2"/>
              <a:buChar char="Ø"/>
            </a:pPr>
            <a:r>
              <a:rPr lang="en-US" dirty="0"/>
              <a:t> we intend to make more informed applications so the scam victims could be reduced and to maintain a safer job and internship ecosystem.</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1037</Words>
  <Application>Microsoft Office PowerPoint</Application>
  <PresentationFormat>Widescreen</PresentationFormat>
  <Paragraphs>101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MADHUKSARA UDHAYAKUMAR</cp:lastModifiedBy>
  <cp:revision>2</cp:revision>
  <dcterms:created xsi:type="dcterms:W3CDTF">2026-10-07T15:27:40Z</dcterms:created>
  <dcterms:modified xsi:type="dcterms:W3CDTF">2026-10-09T16:35:25Z</dcterms:modified>
</cp:coreProperties>
</file>